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Distancia</c:v>
                </c:pt>
              </c:strCache>
            </c:strRef>
          </c:tx>
          <c:spPr>
            <a:solidFill>
              <a:srgbClr val="2E8B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CO2 plano</c:v>
                  </c:pt>
                  <c:pt idx="1">
                    <c:v>Corte de luz</c:v>
                  </c:pt>
                  <c:pt idx="2">
                    <c:v>Humedad</c:v>
                  </c:pt>
                  <c:pt idx="3">
                    <c:v>Bomba</c:v>
                  </c:pt>
                  <c:pt idx="4">
                    <c:v>Alarma crítica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0.1219</c:v>
                </c:pt>
                <c:pt idx="1">
                  <c:v>0.283</c:v>
                </c:pt>
                <c:pt idx="2">
                  <c:v>0.159</c:v>
                </c:pt>
                <c:pt idx="3">
                  <c:v>0.2756</c:v>
                </c:pt>
                <c:pt idx="4">
                  <c:v>0.2054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D5DE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Presentacion: el proyecto es un mini-SCADA en SQL Server 2025 de Nivel 3. Todo en local: SQL Server, Ollama y nginx. Objetivo: guardar lecturas, alarmas y manuales, y poder preguntar en lenguaje natural. Unos 20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real: el conocimiento esta disperso y la busqueda por texto exacto falla. El ejemplo del CO2 plano: la pregunta no contiene la palabra planas pero el manual es el correcto.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Server 2025 solo llama a endpoints HTTPS y Ollama habla HTTP, por eso nginx. La generacion de texto va por REST porque los modelos externos de SQL Server solo pueden ser de embeddings.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zona tiene dispositivos, un dispositivo sensores, y cada sensor genera lecturas y alarmas. Cada alarma puede tener una incidencia. Los datos son deterministas: cualquiera obtiene los mismos.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rapido de los siete bloques del enunciado y de en que scripts esta cada uno. Los scripts estan numerados y se ejecutan en orden. tests.sql comprueba 18 cosas de una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de la demo. 1) RAG: ejecutar 13_rag_demo.sql con la pregunta del sensor de CO2 de la oficina; ensenar los dos documentos con su distancia, el contexto y la respuesta. 2) Seguridad: 07_seguridad_pruebas.sql con admin_scada y tecnico_cpd. 3) Optimizacion: 08_optimizacion.sql, plan antes y despues. Antes de empezar: Ollama y nginx en marcha, SQL Server en marcha, y esta captura como respaldo por si algo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resultados: la busqueda acierta las cinco preguntas con distancias entre 0,12 y 0,28; el indice reduce las lecturas logicas de 15.771 a 13; y el RAG responde con los manuales y, cuando no encuentra nada, lo dice en lugar de inventar.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 mas importante es que el RAG con los manuales evita que el modelo se invente respuestas, y que lo dificil fue el entorno y no el SQL. Todo el codigo, el README y las pruebas estan en GitHub: github.com/MartinezDelAlamoMarco/dp800-mini-scada.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CLASE  |  DP-800  |  NIVEL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Mini-SCADA inteligente con SQL Server 2025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Alarmas, búsqueda semántica y RAG con un modelo de lenguaje local, todo dentro de SQL Server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Martínez del Álamo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Tajamar  |  Octubre de 2026</a:t>
            </a:r>
            <a:endParaRPr lang="en-US" sz="1600" dirty="0"/>
          </a:p>
        </p:txBody>
      </p:sp>
      <p:sp>
        <p:nvSpPr>
          <p:cNvPr id="6" name="tarjeta"/>
          <p:cNvSpPr/>
          <p:nvPr/>
        </p:nvSpPr>
        <p:spPr>
          <a:xfrm>
            <a:off x="8138160" y="914400"/>
            <a:ext cx="3474720" cy="1508760"/>
          </a:xfrm>
          <a:prstGeom prst="roundRect">
            <a:avLst>
              <a:gd name="adj" fmla="val 7273"/>
            </a:avLst>
          </a:prstGeom>
          <a:solidFill>
            <a:srgbClr val="1B4553"/>
          </a:solidFill>
          <a:ln w="12700">
            <a:solidFill>
              <a:srgbClr val="1B45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66760" y="10241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518.000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de sensores</a:t>
            </a:r>
            <a:endParaRPr lang="en-US" sz="1600" dirty="0"/>
          </a:p>
        </p:txBody>
      </p:sp>
      <p:sp>
        <p:nvSpPr>
          <p:cNvPr id="9" name="tarjeta"/>
          <p:cNvSpPr/>
          <p:nvPr/>
        </p:nvSpPr>
        <p:spPr>
          <a:xfrm>
            <a:off x="8138160" y="2697480"/>
            <a:ext cx="3474720" cy="1508760"/>
          </a:xfrm>
          <a:prstGeom prst="roundRect">
            <a:avLst>
              <a:gd name="adj" fmla="val 7273"/>
            </a:avLst>
          </a:prstGeom>
          <a:solidFill>
            <a:srgbClr val="1B4553"/>
          </a:solidFill>
          <a:ln w="12700">
            <a:solidFill>
              <a:srgbClr val="1B45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28072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alarmas con su incidencia</a:t>
            </a:r>
            <a:endParaRPr lang="en-US" sz="1600" dirty="0"/>
          </a:p>
        </p:txBody>
      </p:sp>
      <p:sp>
        <p:nvSpPr>
          <p:cNvPr id="12" name="tarjeta"/>
          <p:cNvSpPr/>
          <p:nvPr/>
        </p:nvSpPr>
        <p:spPr>
          <a:xfrm>
            <a:off x="8138160" y="4480560"/>
            <a:ext cx="3474720" cy="1508760"/>
          </a:xfrm>
          <a:prstGeom prst="roundRect">
            <a:avLst>
              <a:gd name="adj" fmla="val 7273"/>
            </a:avLst>
          </a:prstGeom>
          <a:solidFill>
            <a:srgbClr val="1B4553"/>
          </a:solidFill>
          <a:ln w="12700">
            <a:solidFill>
              <a:srgbClr val="1B455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459028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5394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con embedding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la información no se encuentra</a:t>
            </a:r>
            <a:endParaRPr lang="en-US" sz="3400" dirty="0"/>
          </a:p>
        </p:txBody>
      </p:sp>
      <p:sp>
        <p:nvSpPr>
          <p:cNvPr id="3" name="tarjeta"/>
          <p:cNvSpPr/>
          <p:nvPr/>
        </p:nvSpPr>
        <p:spPr>
          <a:xfrm>
            <a:off x="548640" y="146304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777240" y="1810512"/>
            <a:ext cx="685800" cy="68580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dispersos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299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Lecturas, alarmas, incidencias y manuales viven en sitios distintos.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548640" y="306324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9" name="circulo"/>
          <p:cNvSpPr/>
          <p:nvPr/>
        </p:nvSpPr>
        <p:spPr>
          <a:xfrm>
            <a:off x="777240" y="3410712"/>
            <a:ext cx="685800" cy="68580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10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búsqueda exacta no basta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301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escribe "el sensor marca siempre lo mismo" no usa las palabras del manual.</a:t>
            </a:r>
            <a:endParaRPr lang="en-US" sz="1500" dirty="0"/>
          </a:p>
        </p:txBody>
      </p:sp>
      <p:sp>
        <p:nvSpPr>
          <p:cNvPr id="13" name="tarjeta"/>
          <p:cNvSpPr/>
          <p:nvPr/>
        </p:nvSpPr>
        <p:spPr>
          <a:xfrm>
            <a:off x="548640" y="466344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4" name="circulo"/>
          <p:cNvSpPr/>
          <p:nvPr/>
        </p:nvSpPr>
        <p:spPr>
          <a:xfrm>
            <a:off x="777240" y="5010912"/>
            <a:ext cx="685800" cy="68580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010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alarma empieza de cero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230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si ya pasó antes ni cómo se resolvió.</a:t>
            </a:r>
            <a:endParaRPr lang="en-US" sz="1500" dirty="0"/>
          </a:p>
        </p:txBody>
      </p:sp>
      <p:sp>
        <p:nvSpPr>
          <p:cNvPr id="18" name="tarjeta"/>
          <p:cNvSpPr/>
          <p:nvPr/>
        </p:nvSpPr>
        <p:spPr>
          <a:xfrm>
            <a:off x="6766560" y="1463040"/>
            <a:ext cx="4846320" cy="4572000"/>
          </a:xfrm>
          <a:prstGeom prst="roundRect">
            <a:avLst>
              <a:gd name="adj" fmla="val 2400"/>
            </a:avLst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escribe el técnico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103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"el sensor de CO2 marca siempre el mismo valor"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 el manual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886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"Procedimiento: sensor de CO2 con lecturas planas"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5029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embeddings se encuentran por significado, aunque casi no compartan palabras.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SQL Server habla con Ollama por HTTPS</a:t>
            </a:r>
            <a:endParaRPr lang="en-US" sz="3400" dirty="0"/>
          </a:p>
        </p:txBody>
      </p:sp>
      <p:pic>
        <p:nvPicPr>
          <p:cNvPr id="3" name="diagrama de arquitectura" descr="Diagrama: usuario, procedimientos T-SQL y tablas en SQL Server, nginx y O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498080" cy="3628796"/>
          </a:xfrm>
          <a:prstGeom prst="rect">
            <a:avLst/>
          </a:prstGeom>
        </p:spPr>
      </p:pic>
      <p:sp>
        <p:nvSpPr>
          <p:cNvPr id="4" name="tarjeta"/>
          <p:cNvSpPr/>
          <p:nvPr/>
        </p:nvSpPr>
        <p:spPr>
          <a:xfrm>
            <a:off x="8366760" y="14630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dentro de la base de datos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en columnas VECTOR(768) y búsqueda con VECTOR_DISTANCE.</a:t>
            </a:r>
            <a:endParaRPr lang="en-US" sz="1300" dirty="0"/>
          </a:p>
        </p:txBody>
      </p:sp>
      <p:sp>
        <p:nvSpPr>
          <p:cNvPr id="7" name="tarjeta"/>
          <p:cNvSpPr/>
          <p:nvPr/>
        </p:nvSpPr>
        <p:spPr>
          <a:xfrm>
            <a:off x="8366760" y="3035808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0392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proxy HTTPS en medio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4930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solo llama por HTTPS y Ollama sirve en HTTP, así que nginx con un certificado de mkcert.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8366760" y="4608576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03920" y="47000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modelos locales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506577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para los vectores y Llama 3.2 3B para las respuestas.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datos: 8 tablas organizadas como el edificio</a:t>
            </a:r>
            <a:endParaRPr lang="en-US" sz="3400" dirty="0"/>
          </a:p>
        </p:txBody>
      </p:sp>
      <p:pic>
        <p:nvPicPr>
          <p:cNvPr id="3" name="diagrama de la base de datos" descr="Diagrama de las 8 tablas de MiniSc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151086" cy="475488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áreas, con email enmascarado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nodos IoT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 con su rango 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 518.000, con el JSON original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 con embedding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y solución de cada alarma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manuales, con embedding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UsuariosZona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zonas ve cada usuario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0" y="51663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Restricciones: claves foráneas y CHECK (rango del sensor, fechas, severidad, JSON válido). Lecturas empieza solo con la clave primaria para poder medir el índice.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DP-800: los bloques A a G cubiertos</a:t>
            </a:r>
            <a:endParaRPr lang="en-US" sz="3400" dirty="0"/>
          </a:p>
        </p:txBody>
      </p:sp>
      <p:sp>
        <p:nvSpPr>
          <p:cNvPr id="3" name="tarjeta"/>
          <p:cNvSpPr/>
          <p:nvPr/>
        </p:nvSpPr>
        <p:spPr>
          <a:xfrm>
            <a:off x="548640" y="150876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 05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T-SQL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Función, vistas, procedimientos, trigger, CTE, ventanas y JSON</a:t>
            </a:r>
            <a:endParaRPr lang="en-US" sz="1300" dirty="0"/>
          </a:p>
        </p:txBody>
      </p:sp>
      <p:sp>
        <p:nvSpPr>
          <p:cNvPr id="9" name="tarjeta"/>
          <p:cNvSpPr/>
          <p:nvPr/>
        </p:nvSpPr>
        <p:spPr>
          <a:xfrm>
            <a:off x="3355848" y="150876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circulo"/>
          <p:cNvSpPr/>
          <p:nvPr/>
        </p:nvSpPr>
        <p:spPr>
          <a:xfrm>
            <a:off x="3538728" y="1691640"/>
            <a:ext cx="640080" cy="6400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788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ficha por cada parte: dudas, correcciones y verificación</a:t>
            </a:r>
            <a:endParaRPr lang="en-US" sz="1300" dirty="0"/>
          </a:p>
        </p:txBody>
      </p:sp>
      <p:sp>
        <p:nvSpPr>
          <p:cNvPr id="15" name="tarjeta"/>
          <p:cNvSpPr/>
          <p:nvPr/>
        </p:nvSpPr>
        <p:spPr>
          <a:xfrm>
            <a:off x="6163056" y="150876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6" name="circulo"/>
          <p:cNvSpPr/>
          <p:nvPr/>
        </p:nvSpPr>
        <p:spPr>
          <a:xfrm>
            <a:off x="6345936" y="1691640"/>
            <a:ext cx="640080" cy="6400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4593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626096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06, 07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2788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filas, enmascarado y permisos mínimos</a:t>
            </a:r>
            <a:endParaRPr lang="en-US" sz="1300" dirty="0"/>
          </a:p>
        </p:txBody>
      </p:sp>
      <p:sp>
        <p:nvSpPr>
          <p:cNvPr id="21" name="tarjeta"/>
          <p:cNvSpPr/>
          <p:nvPr/>
        </p:nvSpPr>
        <p:spPr>
          <a:xfrm>
            <a:off x="8970264" y="150876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2" name="circulo"/>
          <p:cNvSpPr/>
          <p:nvPr/>
        </p:nvSpPr>
        <p:spPr>
          <a:xfrm>
            <a:off x="9153144" y="1691640"/>
            <a:ext cx="640080" cy="6400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5314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433304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53144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2788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cubriente, plan y lecturas antes y después</a:t>
            </a:r>
            <a:endParaRPr lang="en-US" sz="1300" dirty="0"/>
          </a:p>
        </p:txBody>
      </p:sp>
      <p:sp>
        <p:nvSpPr>
          <p:cNvPr id="27" name="tarjeta"/>
          <p:cNvSpPr/>
          <p:nvPr/>
        </p:nvSpPr>
        <p:spPr>
          <a:xfrm>
            <a:off x="548640" y="393192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8" name="circulo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011680" y="4206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09, 10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846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212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VECTOR(768) generado dentro de SQL Server</a:t>
            </a:r>
            <a:endParaRPr lang="en-US" sz="1300" dirty="0"/>
          </a:p>
        </p:txBody>
      </p:sp>
      <p:sp>
        <p:nvSpPr>
          <p:cNvPr id="33" name="tarjeta"/>
          <p:cNvSpPr/>
          <p:nvPr/>
        </p:nvSpPr>
        <p:spPr>
          <a:xfrm>
            <a:off x="3355848" y="393192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34" name="circulo"/>
          <p:cNvSpPr/>
          <p:nvPr/>
        </p:nvSpPr>
        <p:spPr>
          <a:xfrm>
            <a:off x="3538728" y="4114800"/>
            <a:ext cx="640080" cy="64008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38728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818888" y="4206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538728" y="4846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semántica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3538728" y="5212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coseno con VECTOR_DISTANCE</a:t>
            </a:r>
            <a:endParaRPr lang="en-US" sz="1300" dirty="0"/>
          </a:p>
        </p:txBody>
      </p:sp>
      <p:sp>
        <p:nvSpPr>
          <p:cNvPr id="39" name="tarjeta"/>
          <p:cNvSpPr/>
          <p:nvPr/>
        </p:nvSpPr>
        <p:spPr>
          <a:xfrm>
            <a:off x="6163056" y="393192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0" name="circulo"/>
          <p:cNvSpPr/>
          <p:nvPr/>
        </p:nvSpPr>
        <p:spPr>
          <a:xfrm>
            <a:off x="6345936" y="4114800"/>
            <a:ext cx="640080" cy="64008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4593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626096" y="4206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12, 13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345936" y="4846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local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6345936" y="5212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 con los documentos recuperados</a:t>
            </a:r>
            <a:endParaRPr lang="en-US" sz="1300" dirty="0"/>
          </a:p>
        </p:txBody>
      </p:sp>
      <p:sp>
        <p:nvSpPr>
          <p:cNvPr id="45" name="tarjeta"/>
          <p:cNvSpPr/>
          <p:nvPr/>
        </p:nvSpPr>
        <p:spPr>
          <a:xfrm>
            <a:off x="8970264" y="393192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53144" y="42519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de 18</a:t>
            </a:r>
            <a:endParaRPr lang="en-US" sz="4000" dirty="0"/>
          </a:p>
        </p:txBody>
      </p:sp>
      <p:sp>
        <p:nvSpPr>
          <p:cNvPr id="47" name="Text 45"/>
          <p:cNvSpPr txBox="1"/>
          <p:nvPr/>
        </p:nvSpPr>
        <p:spPr>
          <a:xfrm>
            <a:off x="9153144" y="5120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 correctas en tests.sql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directo: tres minutos, tres ideas</a:t>
            </a:r>
            <a:endParaRPr lang="en-US" sz="34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alarma nueva en lenguaje natural: pregunta, documentos, contexto y respuesta.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297680" y="13716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9" name="circulo"/>
          <p:cNvSpPr/>
          <p:nvPr/>
        </p:nvSpPr>
        <p:spPr>
          <a:xfrm>
            <a:off x="4480560" y="15087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48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consulta con EXECUTE AS: el administrador ve 11 alarmas y el técnico 3.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8046720" y="13716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4" name="circulo"/>
          <p:cNvSpPr/>
          <p:nvPr/>
        </p:nvSpPr>
        <p:spPr>
          <a:xfrm>
            <a:off x="8229600" y="1508760"/>
            <a:ext cx="548640" cy="548640"/>
          </a:xfrm>
          <a:prstGeom prst="ellipse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148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antes y después del índice, con las lecturas lógicas.</a:t>
            </a:r>
            <a:endParaRPr lang="en-US" sz="1400" dirty="0"/>
          </a:p>
        </p:txBody>
      </p:sp>
      <p:pic>
        <p:nvPicPr>
          <p:cNvPr id="18" name="captura del RAG" descr="Resultado de 13_rag_demo.sql: pregunta, documentos recuperados, contexto y respue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9201249" cy="30175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024209" y="3200400"/>
            <a:ext cx="158867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respaldo del RAG paso a paso, por si falla algo en directo.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se mide, y se nota</a:t>
            </a:r>
            <a:endParaRPr lang="en-US" sz="34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semántica: distancia coseno al primer resultado (menor es mejor)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19456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preguntas, cinco aciertos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6309360" y="141732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37960" y="1554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15.771  a  13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lógicas al crear el índice: de Clustered Index Scan a Index Seek, y de 241 ms a 4 ms con el mismo resultado</a:t>
            </a:r>
            <a:endParaRPr lang="en-US" sz="1500" dirty="0"/>
          </a:p>
        </p:txBody>
      </p:sp>
      <p:sp>
        <p:nvSpPr>
          <p:cNvPr id="10" name="tarjeta"/>
          <p:cNvSpPr/>
          <p:nvPr/>
        </p:nvSpPr>
        <p:spPr>
          <a:xfrm>
            <a:off x="6309360" y="393192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RAG: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"15-30 minutos" para una alarma alta (inventado)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4800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RAG: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8006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"Máximo de 1 hora", como dice el manual. Y ante el incendio, que no está en los manuales: "No lo encuentro en los manuales."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8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800" dirty="0"/>
          </a:p>
        </p:txBody>
      </p:sp>
      <p:sp>
        <p:nvSpPr>
          <p:cNvPr id="3" name="tarjeta"/>
          <p:cNvSpPr/>
          <p:nvPr/>
        </p:nvSpPr>
        <p:spPr>
          <a:xfrm>
            <a:off x="64008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B4553"/>
          </a:solidFill>
          <a:ln w="12700">
            <a:solidFill>
              <a:srgbClr val="1B455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he aprendido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en SQL Server son dos instrucciones: AI_GENERATE_EMBEDDINGS y VECTOR_DISTANCE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difícil fue lo de alrededor: HTTPS, certificados y nginx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RAG cambia las respuestas: sin documentos el modelo se inventa los plazos</a:t>
            </a:r>
            <a:endParaRPr lang="en-US" sz="1700" dirty="0"/>
          </a:p>
        </p:txBody>
      </p:sp>
      <p:sp>
        <p:nvSpPr>
          <p:cNvPr id="6" name="tarjeta"/>
          <p:cNvSpPr/>
          <p:nvPr/>
        </p:nvSpPr>
        <p:spPr>
          <a:xfrm>
            <a:off x="438912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B4553"/>
          </a:solidFill>
          <a:ln w="12700">
            <a:solidFill>
              <a:srgbClr val="1B45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C5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y cómo salieron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33172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se descargaba: lo bajé de Hugging Face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cortaba a los 60 s: proxy_read_timeout de 300 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IDENTITY y de GENERATE_SERIES en T-SQL</a:t>
            </a:r>
            <a:endParaRPr lang="en-US" sz="1700" dirty="0"/>
          </a:p>
        </p:txBody>
      </p:sp>
      <p:sp>
        <p:nvSpPr>
          <p:cNvPr id="9" name="tarjeta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B4553"/>
          </a:solidFill>
          <a:ln w="12700">
            <a:solidFill>
              <a:srgbClr val="1B45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mejoraría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33172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documentos y preguntas, y un índice vectorial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GPU para probar un modelo mayor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los datos por MQTT y guardar cada respuesta del RAG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-SCADA">
  <a:themeElements>
    <a:clrScheme name="Mini-SCADA">
      <a:dk1>
        <a:srgbClr val="1B2B33"/>
      </a:dk1>
      <a:lt1>
        <a:srgbClr val="FFFFFF"/>
      </a:lt1>
      <a:dk2>
        <a:srgbClr val="12303B"/>
      </a:dk2>
      <a:lt2>
        <a:srgbClr val="EEF3F4"/>
      </a:lt2>
      <a:accent1>
        <a:srgbClr val="F2A33A"/>
      </a:accent1>
      <a:accent2>
        <a:srgbClr val="2E8B8B"/>
      </a:accent2>
      <a:accent3>
        <a:srgbClr val="C8553D"/>
      </a:accent3>
      <a:accent4>
        <a:srgbClr val="5B7C8D"/>
      </a:accent4>
      <a:accent5>
        <a:srgbClr val="9CC5C5"/>
      </a:accent5>
      <a:accent6>
        <a:srgbClr val="7A8F99"/>
      </a:accent6>
      <a:hlink>
        <a:srgbClr val="2E8B8B"/>
      </a:hlink>
      <a:folHlink>
        <a:srgbClr val="5B7C8D"/>
      </a:folHlink>
    </a:clrScheme>
    <a:fontScheme name="Mini-SCA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Mini-SCADA inteligente con SQL Server 2025</dc:title>
  <dc:subject>PptxGenJS Presentation</dc:subject>
  <dc:creator>Marco Martínez del Álamo</dc:creator>
  <cp:lastModifiedBy>Marco Martínez del Álamo</cp:lastModifiedBy>
  <cp:revision>1</cp:revision>
  <dcterms:created xsi:type="dcterms:W3CDTF">2026-10-25T17:29:15Z</dcterms:created>
  <dcterms:modified xsi:type="dcterms:W3CDTF">2026-10-25T17:29:15Z</dcterms:modified>
</cp:coreProperties>
</file>